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4.png"/><Relationship Id="rId7" Type="http://schemas.openxmlformats.org/officeDocument/2006/relationships/image" Target="../media/image-7-5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Heart Disease Risk Factor Analysis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 Project Report — Python • SQL • Power BI. End-to-end analysis of UCI heart disease records to identify demographic and clinical factors most associated with heart disease.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Objective &amp; Tools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2602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668885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demographic and clinical factors associated with heart disease using reproducible data workflows.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2602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Tools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668885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(Pandas, Matplotlib, Seaborn), MS SQL Server, Power BI.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Workflow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cleaning → EDA → SQL-driven analysis → Interactive reporting in Power BI.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&amp; Cleaning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9180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7609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UCI Heart Disease Dataset (Kaggle). Final records: 296 patients. 14 attributes.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96994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Cleaning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45422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Removed duplicates, fixed types, and excluded invalid placeholders (ca=4, thal=0) rather than treating them as valid.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5" y="112911"/>
            <a:ext cx="4421275" cy="6632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27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Overall Prevalence &amp; Summary Metrics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758752"/>
            <a:ext cx="6296860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296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5233360" y="2421136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Total Patients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33360" y="2971800"/>
            <a:ext cx="6296860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160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5233360" y="3634184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Heart Disease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33360" y="4184848"/>
            <a:ext cx="6296860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136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5233360" y="4847233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 Disease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233360" y="5397897"/>
            <a:ext cx="6296860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54.52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5233360" y="6060281"/>
            <a:ext cx="6296860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Average Age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17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Disease Rate by Age &amp;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38462"/>
            <a:ext cx="6903269" cy="3455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2583" y="3720754"/>
            <a:ext cx="129649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Younger Age → ?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338793" y="5299382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Lower Disease Rate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30250" y="3720754"/>
            <a:ext cx="1296490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Older Age → 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34914" y="2280269"/>
            <a:ext cx="1551651" cy="193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Higher Disease Rate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95940" y="4609095"/>
            <a:ext cx="1330971" cy="155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55–64 — 36.8%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423439" y="4615992"/>
            <a:ext cx="1330972" cy="155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65+ — 51.2%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23439" y="3340159"/>
            <a:ext cx="1330972" cy="155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40–54 — 69.4%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54563" y="3340159"/>
            <a:ext cx="1330971" cy="155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 40 — 71.4%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32251" y="253236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Gender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032251" y="3016647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Female: 95 total, 71 disease cases → 74.7% disease rate. Male: 201 total, 89 disease cases → 44.3% disease rate.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032251" y="4136529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D2D9F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410571"/>
            <a:ext cx="236234" cy="1890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46499" y="4353818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Females show higher disease rate despite smaller cohort.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Chest Pain &amp; Vessel Findings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9180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Chest Pain Type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7609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Type 0: 27.7% disease rate. Type 1: 81.6%. Type 2: 78.3%. Type 3: 69.6%. Chest pain presentation is a strong indicator.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96994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Number of Major Vessels (ca)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45422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 vessels: 74.6% disease rate → declines to 15.0% for 3 vessels. Clear inverse trend in this dataset.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2" y="117277"/>
            <a:ext cx="4415521" cy="6623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7949"/>
            <a:ext cx="6296860" cy="97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Physiological Measures vs Disease</a:t>
            </a:r>
            <a:endParaRPr lang="en-US" sz="3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750616"/>
            <a:ext cx="6296860" cy="11310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44890" y="2169418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008041" y="1926134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Cholesterol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008041" y="2248396"/>
            <a:ext cx="53466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Avg: No disease = 251 mg/dl; Disease = 243 mg/dl — lower in disease group here.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11289"/>
            <a:ext cx="6296860" cy="9392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44890" y="3334147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008041" y="3186807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Max Heart Rate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008041" y="3509070"/>
            <a:ext cx="53466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disease avg = 138 bpm; Disease avg = 158 bpm.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80073"/>
            <a:ext cx="6296860" cy="9392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44890" y="4402931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008041" y="4255591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Fasting Blood Sugar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008041" y="4577854"/>
            <a:ext cx="534666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High: 53.5% disease rate; Normal: 54.2% — effectively no difference.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148858"/>
            <a:ext cx="6296860" cy="11310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44890" y="5567660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008041" y="5324376"/>
            <a:ext cx="534666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Resting BP Category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008041" y="5646638"/>
            <a:ext cx="534666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Normal: 61.7% (highest), Elevated: 56.8%, High (140+): 45.4% — non-linear relationship.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Exercise-Induced Angina — Counterintuitive Pattern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60402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Patients without exercise-induced angina: 199 total, 137 disease cases → 68.8% disease rate. Patients with angina: 97 total, 23 disease cases → 23.7% disease rate.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180284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2D9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45432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397573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counter-intuitive result highlights the need to validate assumptions with data.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949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Power BI Dashboard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81709"/>
            <a:ext cx="3504219" cy="1968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5958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dashboard built with slicers for Gender, Disease Status, Chest Pain Type, and Age Group. Visuals include summary metrics, age-group and chest-pain charts, cholesterol and BP comparisons, and gender donut chart.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936901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296 Total Patients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160 Heart Disease (54.1%)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Filters for dynamic exploration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9034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Conclusions &amp; Recommendations</a:t>
            </a:r>
            <a:endParaRPr lang="en-US" sz="3250" dirty="0"/>
          </a:p>
        </p:txBody>
      </p:sp>
      <p:sp>
        <p:nvSpPr>
          <p:cNvPr id="5" name="Shape 2"/>
          <p:cNvSpPr/>
          <p:nvPr/>
        </p:nvSpPr>
        <p:spPr>
          <a:xfrm>
            <a:off x="661475" y="1779488"/>
            <a:ext cx="661475" cy="1420019"/>
          </a:xfrm>
          <a:prstGeom prst="roundRect">
            <a:avLst>
              <a:gd name="adj" fmla="val 5000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7607" y="1944787"/>
            <a:ext cx="54907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7607" y="2290068"/>
            <a:ext cx="549072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Clinical presentation (chest pain type, vessel findings, exercise angina) is more strongly associated with disease than single measures like cholesterol or resting BP in this dataset.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3344168"/>
            <a:ext cx="661475" cy="1420019"/>
          </a:xfrm>
          <a:prstGeom prst="roundRect">
            <a:avLst>
              <a:gd name="adj" fmla="val 5000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7607" y="3509466"/>
            <a:ext cx="54907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7607" y="3854748"/>
            <a:ext cx="549072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Prioritize chest pain characteristics and vessel imaging for screening; validate assumptions with data; use multivariable approaches rather than relying on single risk factors.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908848"/>
            <a:ext cx="661475" cy="1420019"/>
          </a:xfrm>
          <a:prstGeom prst="roundRect">
            <a:avLst>
              <a:gd name="adj" fmla="val 5000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67607" y="5074146"/>
            <a:ext cx="54907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7607" y="5419427"/>
            <a:ext cx="549072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Extend analysis with larger datasets, incorporate multivariate models, and validate findings clinically before changing screening protocols.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2026-09-13T11:46:32Z</dcterms:created>
  <dcterms:modified xsi:type="dcterms:W3CDTF">2026-09-13T11:46:32Z</dcterms:modified>
</cp:coreProperties>
</file>